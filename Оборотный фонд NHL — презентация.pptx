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0" r:id="rId2"/>
    <p:sldId id="269" r:id="rId13"/>
    <p:sldId id="270" r:id="rId14"/>
    <p:sldId id="271" r:id="rId15"/>
    <p:sldId id="268" r:id="rId5"/>
    <p:sldId id="272" r:id="rId16"/>
    <p:sldId id="273" r:id="rId17"/>
    <p:sldId id="274" r:id="rId18"/>
    <p:sldId id="275" r:id="rId19"/>
    <p:sldId id="276" r:id="rId20"/>
    <p:sldId id="277" r:id="rId21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5.xml"/><Relationship Id="rId4" Type="http://schemas.openxmlformats.org/officeDocument/2006/relationships/oleObject" Target="../embeddings/oleObject19.bin"/><Relationship Id="rId5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39.xml"/><Relationship Id="rId3" Type="http://schemas.openxmlformats.org/officeDocument/2006/relationships/slideLayout" Target="../slideLayouts/slideLayout13.xml"/><Relationship Id="rId4" Type="http://schemas.openxmlformats.org/officeDocument/2006/relationships/oleObject" Target="../embeddings/oleObject22.bin"/><Relationship Id="rId5" Type="http://schemas.openxmlformats.org/officeDocument/2006/relationships/image" Target="../media/image1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56AD537A-8FE3-49BA-B804-6F031D858926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814222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9208CDB-F398-419F-B69B-68009C357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</a:rPr>
              <a:t>Оборотный фонд гарантийных</a:t>
            </a:r>
            <a:endParaRPr lang="ru-RU"/>
          </a:p>
          <a:p>
            <a:r>
              <a:rPr sz="4400" b="1">
                <a:solidFill>
                  <a:srgbClr val="FFFFFF"/>
                </a:solidFill>
                <a:latin typeface="Arial"/>
              </a:rPr>
              <a:t>компонентов NHL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E337DE9-50D0-4292-A8AC-642EB4F4CE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sz="2000" b="0">
                <a:solidFill>
                  <a:srgbClr val="3EF0AF"/>
                </a:solidFill>
              </a:rPr>
              <a:t>Три фонда · единый ремонтный цех ГЕ · разрешение коллизии заимствования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3878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0" y="3913632"/>
            <a:ext cx="3813048" cy="2944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6000" b="1">
                <a:solidFill>
                  <a:srgbClr val="B3BDDC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21792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1">
                <a:solidFill>
                  <a:srgbClr val="3EF0AF"/>
                </a:solidFill>
                <a:latin typeface="Arial"/>
              </a:rPr>
              <a:t>Три оборотных фонда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508760"/>
            <a:ext cx="5522976" cy="3081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Кто владеет запасным компонентом и когда он может быть использован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A3138"/>
                </a:solidFill>
                <a:latin typeface="Arial"/>
              </a:rPr>
              <a:t>Три оборотных фонда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8056" y="960120"/>
            <a:ext cx="3584448" cy="5532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1170431"/>
            <a:ext cx="713232" cy="713232"/>
          </a:xfrm>
          <a:prstGeom prst="ellipse">
            <a:avLst/>
          </a:prstGeom>
          <a:solidFill>
            <a:srgbClr val="3F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ГЕ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9616" y="1216152"/>
            <a:ext cx="2350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2A3138"/>
                </a:solidFill>
                <a:latin typeface="Arial"/>
              </a:rPr>
              <a:t>ОФ ГЕ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9616" y="1618488"/>
            <a:ext cx="235000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0868B"/>
                </a:solidFill>
                <a:latin typeface="Arial"/>
              </a:rPr>
              <a:t>Общий гарантийный фонд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377440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F9E46"/>
                </a:solidFill>
                <a:latin typeface="Arial"/>
              </a:rPr>
              <a:t>Владелец: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51760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контрагент ГЕ (GE-NHL)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3310128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F9E46"/>
                </a:solidFill>
                <a:latin typeface="Arial"/>
              </a:rPr>
              <a:t>Когда: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584448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гарантийный случай, весь парк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242816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F9E46"/>
                </a:solidFill>
                <a:latin typeface="Arial"/>
              </a:rPr>
              <a:t>Ремонт: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517136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за счёт ГЕ · единый цех ГЕ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5175503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F9E46"/>
                </a:solidFill>
                <a:latin typeface="Arial"/>
              </a:rPr>
              <a:t>Возврат: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449823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обратно в ОФ ГЕ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6824" y="960120"/>
            <a:ext cx="3584448" cy="5532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17136" y="1170431"/>
            <a:ext cx="713232" cy="713232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Ф3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8383" y="1216152"/>
            <a:ext cx="2350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2A3138"/>
                </a:solidFill>
                <a:latin typeface="Arial"/>
              </a:rPr>
              <a:t>Фонд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3" y="1618488"/>
            <a:ext cx="235000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0868B"/>
                </a:solidFill>
                <a:latin typeface="Arial"/>
              </a:rPr>
              <a:t>Целевой фонд клиента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2377440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B5FBB"/>
                </a:solidFill>
                <a:latin typeface="Arial"/>
              </a:rPr>
              <a:t>Владелец: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2651760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клиент (Полюс), физически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3310128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B5FBB"/>
                </a:solidFill>
                <a:latin typeface="Arial"/>
              </a:rPr>
              <a:t>Когда: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3584448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гарантия — ТОЛЬКО закреплённый парк (машинокомплект)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4242816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B5FBB"/>
                </a:solidFill>
                <a:latin typeface="Arial"/>
              </a:rPr>
              <a:t>Ремонт: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4517136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по условиям поставки · цех ГЕ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5175503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9B5FBB"/>
                </a:solidFill>
                <a:latin typeface="Arial"/>
              </a:rPr>
              <a:t>Возврат: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449823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обратно в Фонд 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5592" y="960120"/>
            <a:ext cx="3584448" cy="5532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75903" y="1170431"/>
            <a:ext cx="713232" cy="713232"/>
          </a:xfrm>
          <a:prstGeom prst="ellipse">
            <a:avLst/>
          </a:prstGeom>
          <a:solidFill>
            <a:srgbClr val="D98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ЗИП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1216152"/>
            <a:ext cx="2350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2A3138"/>
                </a:solidFill>
                <a:latin typeface="Arial"/>
              </a:rPr>
              <a:t>ОФ Полюс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1618488"/>
            <a:ext cx="235000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80868B"/>
                </a:solidFill>
                <a:latin typeface="Arial"/>
              </a:rPr>
              <a:t>Общий фонд владельца парка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2377440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862B"/>
                </a:solidFill>
                <a:latin typeface="Arial"/>
              </a:rPr>
              <a:t>Владелец: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2651760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владелец парка (Полюс)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3310128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862B"/>
                </a:solidFill>
                <a:latin typeface="Arial"/>
              </a:rPr>
              <a:t>Когда: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3584448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не гарантийный случай, весь парк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242816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862B"/>
                </a:solidFill>
                <a:latin typeface="Arial"/>
              </a:rPr>
              <a:t>Ремонт: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4517136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за счёт Полюс (коммерция) · цех ГЕ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5175503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D9862B"/>
                </a:solidFill>
                <a:latin typeface="Arial"/>
              </a:rPr>
              <a:t>Возврат: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5449823"/>
            <a:ext cx="299923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обратно в ОФ Полюс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0" y="3913632"/>
            <a:ext cx="3813048" cy="2944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6000" b="1">
                <a:solidFill>
                  <a:srgbClr val="B3BDDC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21792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1">
                <a:solidFill>
                  <a:srgbClr val="3EF0AF"/>
                </a:solidFill>
                <a:latin typeface="Arial"/>
              </a:rPr>
              <a:t>Полный цикл оборота компонента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508760"/>
            <a:ext cx="5943600" cy="3081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От отказа на машине до возврата в фонд — включая единый ремонтный цех ГЕ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E7E6D87D-0BDE-493A-9E28-ECB1540C71E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05760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0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BBF88F5-DEC6-4782-A65C-645CB790B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2A3138"/>
                </a:solidFill>
              </a:rPr>
              <a:t>Оборот компонента: с машины — в ремонт — обратно в фонд</a:t>
            </a:r>
            <a:endParaRPr lang="ru-RU"/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103120" cy="105156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50" b="1">
                <a:solidFill>
                  <a:srgbClr val="2A3138"/>
                </a:solidFill>
                <a:latin typeface="Arial"/>
              </a:rPr>
              <a:t>Компонент
на машине</a:t>
            </a:r>
          </a:p>
        </p:txBody>
      </p:sp>
      <p:sp>
        <p:nvSpPr>
          <p:cNvPr id="8" name="Chevron 7"/>
          <p:cNvSpPr/>
          <p:nvPr/>
        </p:nvSpPr>
        <p:spPr>
          <a:xfrm>
            <a:off x="2651759" y="1965960"/>
            <a:ext cx="411480" cy="502920"/>
          </a:xfrm>
          <a:prstGeom prst="chevron">
            <a:avLst/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08959" y="169164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50" b="1">
                <a:solidFill>
                  <a:srgbClr val="2A3138"/>
                </a:solidFill>
                <a:latin typeface="Arial"/>
              </a:rPr>
              <a:t>Отказ</a:t>
            </a:r>
          </a:p>
        </p:txBody>
      </p:sp>
      <p:sp>
        <p:nvSpPr>
          <p:cNvPr id="10" name="Chevron 9"/>
          <p:cNvSpPr/>
          <p:nvPr/>
        </p:nvSpPr>
        <p:spPr>
          <a:xfrm>
            <a:off x="4617720" y="1965960"/>
            <a:ext cx="411480" cy="502920"/>
          </a:xfrm>
          <a:prstGeom prst="chevron">
            <a:avLst/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74920" y="1691640"/>
            <a:ext cx="1783080" cy="1051560"/>
          </a:xfrm>
          <a:prstGeom prst="roundRect">
            <a:avLst>
              <a:gd name="adj" fmla="val 6000"/>
            </a:avLst>
          </a:prstGeom>
          <a:solidFill>
            <a:srgbClr val="FDE2E2"/>
          </a:solidFill>
          <a:ln w="12700">
            <a:solidFill>
              <a:srgbClr val="C23B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50" b="1">
                <a:solidFill>
                  <a:srgbClr val="C23B3B"/>
                </a:solidFill>
                <a:latin typeface="Arial"/>
              </a:rPr>
              <a:t>Снятие
(неисправный)</a:t>
            </a:r>
          </a:p>
        </p:txBody>
      </p:sp>
      <p:sp>
        <p:nvSpPr>
          <p:cNvPr id="12" name="Chevron 11"/>
          <p:cNvSpPr/>
          <p:nvPr/>
        </p:nvSpPr>
        <p:spPr>
          <a:xfrm>
            <a:off x="6903720" y="1965960"/>
            <a:ext cx="411480" cy="502920"/>
          </a:xfrm>
          <a:prstGeom prst="chevron">
            <a:avLst/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360920" y="1371600"/>
            <a:ext cx="2286000" cy="1691639"/>
          </a:xfrm>
          <a:prstGeom prst="diamond">
            <a:avLst/>
          </a:prstGeom>
          <a:solidFill>
            <a:srgbClr val="FAF3CF"/>
          </a:solidFill>
          <a:ln w="15875">
            <a:solidFill>
              <a:srgbClr val="BDA5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5A4B00"/>
                </a:solidFill>
                <a:latin typeface="Arial"/>
              </a:rPr>
              <a:t>Гарантийный
случай?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4420" y="3246120"/>
            <a:ext cx="3246120" cy="566928"/>
          </a:xfrm>
          <a:prstGeom prst="roundRect">
            <a:avLst>
              <a:gd name="adj" fmla="val 6000"/>
            </a:avLst>
          </a:prstGeom>
          <a:solidFill>
            <a:srgbClr val="3F9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ОФ ГЕ — общий гарантийный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697480" y="3063240"/>
            <a:ext cx="5806440" cy="182880"/>
          </a:xfrm>
          <a:prstGeom prst="bentConnector3">
            <a:avLst/>
          </a:prstGeom>
          <a:ln w="22225">
            <a:solidFill>
              <a:srgbClr val="8086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40580" y="3246120"/>
            <a:ext cx="3246120" cy="566928"/>
          </a:xfrm>
          <a:prstGeom prst="roundRect">
            <a:avLst>
              <a:gd name="adj" fmla="val 6000"/>
            </a:avLst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Фонд 3 — закреплённый парк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6263640" y="3063240"/>
            <a:ext cx="2240280" cy="182880"/>
          </a:xfrm>
          <a:prstGeom prst="bentConnector3">
            <a:avLst/>
          </a:prstGeom>
          <a:ln w="22225">
            <a:solidFill>
              <a:srgbClr val="8086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06740" y="3246120"/>
            <a:ext cx="3246120" cy="566928"/>
          </a:xfrm>
          <a:prstGeom prst="roundRect">
            <a:avLst>
              <a:gd name="adj" fmla="val 6000"/>
            </a:avLst>
          </a:prstGeom>
          <a:solidFill>
            <a:srgbClr val="D98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ОФ Полюс — не гарантийный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03920" y="3063240"/>
            <a:ext cx="1325880" cy="182880"/>
          </a:xfrm>
          <a:prstGeom prst="bentConnector3">
            <a:avLst/>
          </a:prstGeom>
          <a:ln w="22225">
            <a:solidFill>
              <a:srgbClr val="8086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429000" y="416052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3EF0AF"/>
                </a:solidFill>
                <a:latin typeface="Arial"/>
              </a:rPr>
              <a:t>Ремонт — единый цех ГЕ  (условия оплаты зависят от случая)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7480" y="3813048"/>
            <a:ext cx="3566160" cy="347472"/>
          </a:xfrm>
          <a:prstGeom prst="bentConnector3">
            <a:avLst/>
          </a:prstGeom>
          <a:ln w="22225">
            <a:solidFill>
              <a:srgbClr val="8086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63640" y="3813048"/>
            <a:ext cx="0" cy="347472"/>
          </a:xfrm>
          <a:prstGeom prst="bentConnector3">
            <a:avLst/>
          </a:prstGeom>
          <a:ln w="22225">
            <a:solidFill>
              <a:srgbClr val="8086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263640" y="3813048"/>
            <a:ext cx="3566160" cy="347472"/>
          </a:xfrm>
          <a:prstGeom prst="bentConnector3">
            <a:avLst/>
          </a:prstGeom>
          <a:ln w="22225">
            <a:solidFill>
              <a:srgbClr val="8086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429000" y="534924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A3138"/>
                </a:solidFill>
                <a:latin typeface="Arial"/>
              </a:rPr>
              <a:t>Возврат отремонтированного в ТОТ ЖЕ фонд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263640" y="5029200"/>
            <a:ext cx="0" cy="320040"/>
          </a:xfrm>
          <a:prstGeom prst="bentConnector3">
            <a:avLst/>
          </a:prstGeom>
          <a:ln w="22225">
            <a:solidFill>
              <a:srgbClr val="8086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1554480" y="2743200"/>
            <a:ext cx="2240280" cy="2935224"/>
          </a:xfrm>
          <a:prstGeom prst="bentConnector3">
            <a:avLst/>
          </a:prstGeom>
          <a:ln w="22225">
            <a:solidFill>
              <a:srgbClr val="3F9E4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585215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F9E46"/>
                </a:solidFill>
                <a:latin typeface="Arial"/>
              </a:rPr>
              <a:t>┈ выдача → установка (advance exchange)</a:t>
            </a:r>
          </a:p>
        </p:txBody>
      </p:sp>
    </p:spTree>
    <p:extLst>
      <p:ext uri="{BB962C8B-B14F-4D97-AF65-F5344CB8AC3E}">
        <p14:creationId xmlns:p14="http://schemas.microsoft.com/office/powerpoint/2010/main" val="2448710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A3138"/>
                </a:solidFill>
                <a:latin typeface="Arial"/>
              </a:rPr>
              <a:t>Полный цикл: 4 шага</a:t>
            </a:r>
          </a:p>
        </p:txBody>
      </p:sp>
      <p:sp>
        <p:nvSpPr>
          <p:cNvPr id="3" name="Oval 2"/>
          <p:cNvSpPr/>
          <p:nvPr/>
        </p:nvSpPr>
        <p:spPr>
          <a:xfrm>
            <a:off x="566928" y="1307592"/>
            <a:ext cx="786384" cy="786384"/>
          </a:xfrm>
          <a:prstGeom prst="ellipse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3EF0A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1106424"/>
            <a:ext cx="9418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A3138"/>
                </a:solidFill>
                <a:latin typeface="Arial"/>
              </a:rPr>
              <a:t>Отказ и снятие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527048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0868B"/>
                </a:solidFill>
                <a:latin typeface="Arial"/>
              </a:rPr>
              <a:t>Неисправный компонент снимается с самосвала — машина простаивать не должна.</a:t>
            </a:r>
          </a:p>
        </p:txBody>
      </p:sp>
      <p:sp>
        <p:nvSpPr>
          <p:cNvPr id="6" name="Oval 5"/>
          <p:cNvSpPr/>
          <p:nvPr/>
        </p:nvSpPr>
        <p:spPr>
          <a:xfrm>
            <a:off x="566928" y="2606039"/>
            <a:ext cx="786384" cy="786384"/>
          </a:xfrm>
          <a:prstGeom prst="ellipse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3EF0A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404872"/>
            <a:ext cx="9418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A3138"/>
                </a:solidFill>
                <a:latin typeface="Arial"/>
              </a:rPr>
              <a:t>Определение гарантии → выбор фонда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825496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0868B"/>
                </a:solidFill>
                <a:latin typeface="Arial"/>
              </a:rPr>
              <a:t>Гарантийный случай: Фонд 3 (если машина закреплена и компонент в наличии) или ОФ ГЕ. Не гарантийный — ОФ Полюс (ЗИП).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3904487"/>
            <a:ext cx="786384" cy="786384"/>
          </a:xfrm>
          <a:prstGeom prst="ellipse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3EF0A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703320"/>
            <a:ext cx="9418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A3138"/>
                </a:solidFill>
                <a:latin typeface="Arial"/>
              </a:rPr>
              <a:t>Ремонт в едином цехе 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23944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0868B"/>
                </a:solidFill>
                <a:latin typeface="Arial"/>
              </a:rPr>
              <a:t>Независимо от случая физический ремонт выполняется на одной площадке ГЕ — отличаются только условия оплаты.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5202936"/>
            <a:ext cx="786384" cy="786384"/>
          </a:xfrm>
          <a:prstGeom prst="ellipse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600" b="1">
                <a:solidFill>
                  <a:srgbClr val="3EF0AF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5001768"/>
            <a:ext cx="9418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A3138"/>
                </a:solidFill>
                <a:latin typeface="Arial"/>
              </a:rPr>
              <a:t>Возврат в тот же фонд + выдача на машину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422392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80868B"/>
                </a:solidFill>
                <a:latin typeface="Arial"/>
              </a:rPr>
              <a:t>Отремонтированный компонент возвращается туда, откуда был выдан. Исправный компонент сразу ставится на машину (advance exchange).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89520" y="3913632"/>
            <a:ext cx="3813048" cy="2944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6000" b="1">
                <a:solidFill>
                  <a:srgbClr val="B3BDD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621792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1">
                <a:solidFill>
                  <a:srgbClr val="3EF0AF"/>
                </a:solidFill>
                <a:latin typeface="Arial"/>
              </a:rPr>
              <a:t>Коллизия и её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72" y="1508760"/>
            <a:ext cx="6400800" cy="3081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Что делать, если Фонд 3 понадобился для не гарантийного случая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A3138"/>
                </a:solidFill>
                <a:latin typeface="Arial"/>
              </a:rPr>
              <a:t>Коллизия: заимствование из Фонда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6868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400" b="0">
                <a:solidFill>
                  <a:srgbClr val="C23B3B"/>
                </a:solidFill>
                <a:latin typeface="Arial"/>
              </a:rPr>
              <a:t>ОФ Полюс пуст, а на закреплённой машине доступен компонент Фонда 3 — единственный вариант не остановить самосвал. Использование не по назначению «протыкает» целевой фонд.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331720"/>
            <a:ext cx="26517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45336" y="2615184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22494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A3138"/>
                </a:solidFill>
                <a:latin typeface="Arial"/>
              </a:rPr>
              <a:t>Приоритет доступа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4160520"/>
            <a:ext cx="22494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0868B"/>
                </a:solidFill>
                <a:latin typeface="Arial"/>
              </a:rPr>
              <a:t>Фонд 3 — не альтернатива ЗИП, а резерв последней очереди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2331720"/>
            <a:ext cx="26517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43984" y="2615184"/>
            <a:ext cx="566928" cy="566928"/>
          </a:xfrm>
          <a:prstGeom prst="ellipse">
            <a:avLst/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2736" y="3337560"/>
            <a:ext cx="22494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A3138"/>
                </a:solidFill>
                <a:latin typeface="Arial"/>
              </a:rPr>
              <a:t>Гейт авторизации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2736" y="4160520"/>
            <a:ext cx="22494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0868B"/>
                </a:solidFill>
                <a:latin typeface="Arial"/>
              </a:rPr>
              <a:t>Списание требует явного одобрения, а не автоматической выдачи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2331720"/>
            <a:ext cx="26517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42631" y="2615184"/>
            <a:ext cx="566928" cy="566928"/>
          </a:xfrm>
          <a:prstGeom prst="ellipse">
            <a:avLst/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3" y="3337560"/>
            <a:ext cx="22494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A3138"/>
                </a:solidFill>
                <a:latin typeface="Arial"/>
              </a:rPr>
              <a:t>Обязательное погашение долга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3" y="4160520"/>
            <a:ext cx="22494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0868B"/>
                </a:solidFill>
                <a:latin typeface="Arial"/>
              </a:rPr>
              <a:t>Восстановленный компонент возвращается именно в Фонд 3, не в ЗИП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4" y="2331720"/>
            <a:ext cx="26517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41280" y="2615184"/>
            <a:ext cx="566928" cy="566928"/>
          </a:xfrm>
          <a:prstGeom prst="ellipse">
            <a:avLst/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0032" y="3337560"/>
            <a:ext cx="22494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2A3138"/>
                </a:solidFill>
                <a:latin typeface="Arial"/>
              </a:rPr>
              <a:t>Реестр и алерт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4160520"/>
            <a:ext cx="22494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0868B"/>
                </a:solidFill>
                <a:latin typeface="Arial"/>
              </a:rPr>
              <a:t>Норматив / факт / долг; пока долг не закрыт — фонд считается дефицитным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A3138"/>
                </a:solidFill>
                <a:latin typeface="Arial"/>
              </a:rPr>
              <a:t>Норматив оборотного фонда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EF0AF"/>
                </a:solidFill>
                <a:latin typeface="Arial"/>
              </a:rPr>
              <a:t>МЕТОДИКА (METRIC / теорема Палма)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rial"/>
              </a:rPr>
              <a:t>ОФ ≈ λ × TAT + страховой запас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B3BDDC"/>
                </a:solidFill>
                <a:latin typeface="Arial"/>
              </a:rPr>
              <a:t>λ — интенсивность отказов по парку
TAT — время оборота: снятие → ремонт → возврат в ОФ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960120"/>
            <a:ext cx="5074920" cy="233172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1887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80868B"/>
                </a:solidFill>
                <a:latin typeface="Arial"/>
              </a:rPr>
              <a:t>ПРАКТИЧЕСКИЙ НОРМАТИВ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50876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A3138"/>
                </a:solidFill>
                <a:latin typeface="Arial"/>
              </a:rPr>
              <a:t>10 машин = 1 комплект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331720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A3138"/>
                </a:solidFill>
                <a:latin typeface="Arial"/>
              </a:rPr>
              <a:t>NTE: 1 ДВС + 2 мотор-колеса + 1 генератор
TR100: 1 ДВС + 1 КПП + 2 бортовых редуктора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52044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EF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9B5FBB"/>
                </a:solidFill>
                <a:latin typeface="Arial"/>
              </a:rPr>
              <a:t>Фонд 3 нормируется иначе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2A3138"/>
                </a:solidFill>
                <a:latin typeface="Arial"/>
              </a:rPr>
              <a:t>Размер не считается по формуле λ×TAT от всего парка — фиксируется условиями поставки (число и состав закреплённых машин). Формула применима только в границах этого подпарка.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20640"/>
            <a:ext cx="10881360" cy="1188720"/>
          </a:xfrm>
          <a:prstGeom prst="roundRect">
            <a:avLst>
              <a:gd name="adj" fmla="val 6000"/>
            </a:avLst>
          </a:prstGeom>
          <a:solidFill>
            <a:srgbClr val="E4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03520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2F7035"/>
                </a:solidFill>
                <a:latin typeface="Arial"/>
              </a:rPr>
              <a:t>Вывод для планирования: чем больше TAT (дольше ремонт и логистика), тем больше нужен ОФ. Сокращение TAT напрямую уменьшает требуемый оборотный фонд.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8328" y="91440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2A3138"/>
                </a:solidFill>
                <a:latin typeface="Arial"/>
              </a:rPr>
              <a:t>Открытые вопросы</a:t>
            </a:r>
          </a:p>
        </p:txBody>
      </p:sp>
      <p:sp>
        <p:nvSpPr>
          <p:cNvPr id="3" name="Oval 2"/>
          <p:cNvSpPr/>
          <p:nvPr/>
        </p:nvSpPr>
        <p:spPr>
          <a:xfrm>
            <a:off x="676656" y="1152144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1143000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1143000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Закупка при невозможности ремонта — у ГЕ или у стороннего поставщика?</a:t>
            </a:r>
          </a:p>
        </p:txBody>
      </p:sp>
      <p:sp>
        <p:nvSpPr>
          <p:cNvPr id="6" name="Oval 5"/>
          <p:cNvSpPr/>
          <p:nvPr/>
        </p:nvSpPr>
        <p:spPr>
          <a:xfrm>
            <a:off x="676656" y="2084831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2075688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075688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Первичное формирование фондов — кто и в каком объёме закупает ОФ ГЕ и ОФ Полюс на старте?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3017520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3008376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3008376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Перечень и количество машин, закреплённых за Фондом 3 (машинокомплект)</a:t>
            </a:r>
          </a:p>
        </p:txBody>
      </p:sp>
      <p:sp>
        <p:nvSpPr>
          <p:cNvPr id="12" name="Oval 11"/>
          <p:cNvSpPr/>
          <p:nvPr/>
        </p:nvSpPr>
        <p:spPr>
          <a:xfrm>
            <a:off x="676656" y="3950208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17320" y="3941064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3941064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Фактический TAT по каждому типу компонента — нужен для точного размера ОФ вместо норматива 10:1</a:t>
            </a:r>
          </a:p>
        </p:txBody>
      </p:sp>
      <p:sp>
        <p:nvSpPr>
          <p:cNvPr id="15" name="Oval 14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9B5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7320" y="4873752"/>
            <a:ext cx="9601200" cy="7772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4873752"/>
            <a:ext cx="9052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A3138"/>
                </a:solidFill>
                <a:latin typeface="Arial"/>
              </a:rPr>
              <a:t>Кто утверждает исключение — гейт авторизации при заимствовании из Фонда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504" y="4074566"/>
            <a:ext cx="7772400" cy="227228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Arial"/>
              </a:rPr>
              <a:t>Спасибо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6933" y="5935370"/>
            <a:ext cx="3706977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1400" b="1">
                <a:solidFill>
                  <a:srgbClr val="3EF0AF"/>
                </a:solidFill>
                <a:latin typeface="Arial"/>
              </a:rPr>
              <a:t>ОБОРОТНЫЙ ФОНД NHL ·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