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19.vml" ContentType="application/vnd.openxmlformats-officedocument.vmlDrawing"/>
  <Override PartName="/ppt/drawings/vmlDrawing2.vml" ContentType="application/vnd.openxmlformats-officedocument.vmlDrawing"/>
  <Override PartName="/ppt/drawings/vmlDrawing2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2.svg" ContentType="image/svg+xml"/>
  <Override PartName="/ppt/media/image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69" r:id="rId13"/>
    <p:sldId id="270" r:id="rId14"/>
    <p:sldId id="271" r:id="rId15"/>
    <p:sldId id="268" r:id="rId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custDataLst>
    <p:tags r:id="rId8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BDDA"/>
    <a:srgbClr val="7E83FA"/>
    <a:srgbClr val="3EF0AF"/>
    <a:srgbClr val="293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51" d="100"/>
          <a:sy n="151" d="100"/>
        </p:scale>
        <p:origin x="1200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09B7-6E16-42E9-860B-AFC172AC95B4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D6C38-6262-47DC-8176-B884F3859E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90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8.png"/><Relationship Id="rId9" Type="http://schemas.openxmlformats.org/officeDocument/2006/relationships/image" Target="../media/image9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1.jpg"/><Relationship Id="rId5" Type="http://schemas.openxmlformats.org/officeDocument/2006/relationships/oleObject" Target="../embeddings/oleObject6.bin"/><Relationship Id="rId6" Type="http://schemas.openxmlformats.org/officeDocument/2006/relationships/image" Target="../media/image1.emf"/><Relationship Id="rId7" Type="http://schemas.openxmlformats.org/officeDocument/2006/relationships/image" Target="../media/image12.png"/><Relationship Id="rId8" Type="http://schemas.openxmlformats.org/officeDocument/2006/relationships/image" Target="../media/image3.png"/><Relationship Id="rId9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3.jpeg"/><Relationship Id="rId5" Type="http://schemas.openxmlformats.org/officeDocument/2006/relationships/oleObject" Target="../embeddings/oleObject7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5.jpeg"/><Relationship Id="rId5" Type="http://schemas.openxmlformats.org/officeDocument/2006/relationships/oleObject" Target="../embeddings/oleObject8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6.jpeg"/><Relationship Id="rId5" Type="http://schemas.openxmlformats.org/officeDocument/2006/relationships/oleObject" Target="../embeddings/oleObject9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7.jpeg"/><Relationship Id="rId5" Type="http://schemas.openxmlformats.org/officeDocument/2006/relationships/oleObject" Target="../embeddings/oleObject10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8.png"/><Relationship Id="rId5" Type="http://schemas.openxmlformats.org/officeDocument/2006/relationships/oleObject" Target="../embeddings/oleObject11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9.png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0.png"/><Relationship Id="rId5" Type="http://schemas.openxmlformats.org/officeDocument/2006/relationships/oleObject" Target="../embeddings/oleObject13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4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tags" Target="../tags/tag1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1.emf"/><Relationship Id="rId6" Type="http://schemas.openxmlformats.org/officeDocument/2006/relationships/image" Target="../media/image2.png"/><Relationship Id="rId7" Type="http://schemas.openxmlformats.org/officeDocument/2006/relationships/image" Target="../media/image21.png"/><Relationship Id="rId8" Type="http://schemas.openxmlformats.org/officeDocument/2006/relationships/image" Target="../media/image2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tags" Target="../tags/tag1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7.bin"/><Relationship Id="rId5" Type="http://schemas.openxmlformats.org/officeDocument/2006/relationships/image" Target="../media/image1.emf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3.png"/><Relationship Id="rId9" Type="http://schemas.openxmlformats.org/officeDocument/2006/relationships/image" Target="../media/image4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3.png"/><Relationship Id="rId9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25A6CE9-2642-486D-A166-47D8B312C1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65918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7E1EA8-D672-451F-841B-75E852C3E79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3608777-01C9-42F3-B597-72716079C7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8DA627-6455-420D-AE3A-0B69F748D93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6" name="Текст 3">
            <a:extLst>
              <a:ext uri="{FF2B5EF4-FFF2-40B4-BE49-F238E27FC236}">
                <a16:creationId xmlns:a16="http://schemas.microsoft.com/office/drawing/2014/main" id="{DCCE8E5C-3BE7-495F-80A8-8717D99DF1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4894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2 (зеленый фон)">
    <p:bg>
      <p:bgPr>
        <a:solidFill>
          <a:srgbClr val="3EF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8CF0ACF-A2EA-454A-B17F-84ECC23B3B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226035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CF0ACF-A2EA-454A-B17F-84ECC23B3B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2DCBFE-BB85-C645-74EF-CA3318C479D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0E66AE3-27F3-7AFB-18F8-52F53CB8E8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73150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ru-RU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lnSpc>
                <a:spcPct val="80000"/>
              </a:lnSpc>
            </a:pPr>
            <a:r>
              <a:rPr lang="ru-RU" dirty="0"/>
              <a:t>Название презентации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CB750C-4279-9189-A6DF-4E72FECDF3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700" y="5753100"/>
            <a:ext cx="10731500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10B002-1184-5A11-4026-D5240358FE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00" y="430315"/>
            <a:ext cx="2464270" cy="10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6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0745FA4-B560-40AE-98EE-4E5317FF65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61448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745FA4-B560-40AE-98EE-4E5317FF65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107753-9097-232B-7A76-A2A6407D0F6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86201" y="0"/>
            <a:ext cx="5248798" cy="7082716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5D360B4-4895-4A17-B046-9B85D2D9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2B0ACCEB-A904-45A3-BBD5-6CB8D19DAF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2832331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4 (Зеленый фон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DB6F5B8-2533-42E6-A268-1BE2F64C62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39843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B6F5B8-2533-42E6-A268-1BE2F64C62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F84386E-836C-12E8-6C0E-94854F3FBD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alphaModFix amt="70000"/>
          </a:blip>
          <a:srcRect t="12128" b="11026"/>
          <a:stretch/>
        </p:blipFill>
        <p:spPr>
          <a:xfrm>
            <a:off x="4016837" y="-1"/>
            <a:ext cx="6611179" cy="685800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10B002-1184-5A11-4026-D5240358FE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00" y="430315"/>
            <a:ext cx="2464270" cy="1024163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E5E1E30-FADD-4E58-80FA-7554C20E0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73150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ru-RU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lnSpc>
                <a:spcPct val="80000"/>
              </a:lnSpc>
            </a:pPr>
            <a:r>
              <a:rPr lang="ru-RU" dirty="0"/>
              <a:t>Название презентации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FD6CAC8F-7CD1-46F9-9402-CB2EEDDBBE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700" y="5753100"/>
            <a:ext cx="10731500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8930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5 (Фотофон)"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DC9A468-9338-4DAF-9034-FC5B4032A6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2463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C9A468-9338-4DAF-9034-FC5B4032A6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472B05-73D8-DF94-126F-CD3C16C5208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DFF97D0-0CE9-4D7C-BE16-3A9E42ED6B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525B2515-CDCC-4650-B2A3-1F62ABF93A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0136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655699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E0002C3-78CA-4088-AE48-E3BCFDB75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51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5081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31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520806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38239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22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24324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2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64421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FE4038-8DFA-490A-8270-5657C882B6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996011-2F7F-4B41-AE0C-E64B8B978E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5C69CA-B169-46E3-B38E-4098D3FB16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B26F02E-71AB-44F2-B895-03D5F92D3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11FCF6EB-E008-4D91-9A37-BAFFFE389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6F7B37-8F2D-4D1A-B287-D72D344953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14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48179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FE4038-8DFA-490A-8270-5657C882B6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996011-2F7F-4B41-AE0C-E64B8B978E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5C69CA-B169-46E3-B38E-4098D3FB16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B26F02E-71AB-44F2-B895-03D5F92D3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11FCF6EB-E008-4D91-9A37-BAFFFE389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6F7B37-8F2D-4D1A-B287-D72D344953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74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Внутренний слайд №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6A53C67-CA11-427F-B20E-716016198E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798945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A53C67-CA11-427F-B20E-716016198E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6D747-6178-C275-57DD-47BC7A80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-10269"/>
            <a:ext cx="11522075" cy="544168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14B413-8558-4E93-B00C-1EB3C7E53C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3" y="1003091"/>
            <a:ext cx="11522074" cy="563844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dirty="0"/>
              <a:t>Текст или вставка объекта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6FCF7C93-3BC0-A608-C384-13DA9076AD4F}"/>
              </a:ext>
            </a:extLst>
          </p:cNvPr>
          <p:cNvCxnSpPr/>
          <p:nvPr userDrawn="1"/>
        </p:nvCxnSpPr>
        <p:spPr>
          <a:xfrm>
            <a:off x="540350" y="928251"/>
            <a:ext cx="11111300" cy="0"/>
          </a:xfrm>
          <a:prstGeom prst="line">
            <a:avLst/>
          </a:prstGeom>
          <a:ln w="2540">
            <a:solidFill>
              <a:srgbClr val="2931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D963E44-E4F5-4B60-AEB8-9FB14D2D26E2}"/>
              </a:ext>
            </a:extLst>
          </p:cNvPr>
          <p:cNvGrpSpPr/>
          <p:nvPr userDrawn="1"/>
        </p:nvGrpSpPr>
        <p:grpSpPr>
          <a:xfrm>
            <a:off x="11056093" y="6687315"/>
            <a:ext cx="123877" cy="123877"/>
            <a:chOff x="8664606" y="6121154"/>
            <a:chExt cx="736846" cy="736846"/>
          </a:xfrm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758C6BCD-6966-41FE-BAEE-34266B0E9747}"/>
                </a:ext>
              </a:extLst>
            </p:cNvPr>
            <p:cNvSpPr/>
            <p:nvPr/>
          </p:nvSpPr>
          <p:spPr>
            <a:xfrm>
              <a:off x="8664606" y="6121154"/>
              <a:ext cx="736846" cy="736846"/>
            </a:xfrm>
            <a:prstGeom prst="ellipse">
              <a:avLst/>
            </a:prstGeom>
            <a:solidFill>
              <a:srgbClr val="3CF2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60C6F9B3-2727-4376-ADE1-3792E4BB3E9C}"/>
                </a:ext>
              </a:extLst>
            </p:cNvPr>
            <p:cNvSpPr/>
            <p:nvPr/>
          </p:nvSpPr>
          <p:spPr>
            <a:xfrm>
              <a:off x="8775922" y="6277783"/>
              <a:ext cx="514214" cy="423589"/>
            </a:xfrm>
            <a:custGeom>
              <a:avLst/>
              <a:gdLst>
                <a:gd name="connsiteX0" fmla="*/ 1746250 w 4201160"/>
                <a:gd name="connsiteY0" fmla="*/ 6351 h 3460751"/>
                <a:gd name="connsiteX1" fmla="*/ 2156460 w 4201160"/>
                <a:gd name="connsiteY1" fmla="*/ 6351 h 3460751"/>
                <a:gd name="connsiteX2" fmla="*/ 2550160 w 4201160"/>
                <a:gd name="connsiteY2" fmla="*/ 876301 h 3460751"/>
                <a:gd name="connsiteX3" fmla="*/ 1210310 w 4201160"/>
                <a:gd name="connsiteY3" fmla="*/ 3460751 h 3460751"/>
                <a:gd name="connsiteX4" fmla="*/ 0 w 4201160"/>
                <a:gd name="connsiteY4" fmla="*/ 3454401 h 3460751"/>
                <a:gd name="connsiteX5" fmla="*/ 3820160 w 4201160"/>
                <a:gd name="connsiteY5" fmla="*/ 0 h 3460751"/>
                <a:gd name="connsiteX6" fmla="*/ 4201160 w 4201160"/>
                <a:gd name="connsiteY6" fmla="*/ 874059 h 3460751"/>
                <a:gd name="connsiteX7" fmla="*/ 3496310 w 4201160"/>
                <a:gd name="connsiteY7" fmla="*/ 2235199 h 3460751"/>
                <a:gd name="connsiteX8" fmla="*/ 2343150 w 4201160"/>
                <a:gd name="connsiteY8" fmla="*/ 2250141 h 3460751"/>
                <a:gd name="connsiteX9" fmla="*/ 3039110 w 4201160"/>
                <a:gd name="connsiteY9" fmla="*/ 863601 h 3460751"/>
                <a:gd name="connsiteX10" fmla="*/ 2654300 w 4201160"/>
                <a:gd name="connsiteY10" fmla="*/ 6350 h 3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1160" h="3460751">
                  <a:moveTo>
                    <a:pt x="1746250" y="6351"/>
                  </a:moveTo>
                  <a:lnTo>
                    <a:pt x="2156460" y="6351"/>
                  </a:lnTo>
                  <a:lnTo>
                    <a:pt x="2550160" y="876301"/>
                  </a:lnTo>
                  <a:lnTo>
                    <a:pt x="1210310" y="3460751"/>
                  </a:lnTo>
                  <a:lnTo>
                    <a:pt x="0" y="3454401"/>
                  </a:lnTo>
                  <a:close/>
                  <a:moveTo>
                    <a:pt x="3820160" y="0"/>
                  </a:moveTo>
                  <a:lnTo>
                    <a:pt x="4201160" y="874059"/>
                  </a:lnTo>
                  <a:lnTo>
                    <a:pt x="3496310" y="2235199"/>
                  </a:lnTo>
                  <a:lnTo>
                    <a:pt x="2343150" y="2250141"/>
                  </a:lnTo>
                  <a:lnTo>
                    <a:pt x="3039110" y="863601"/>
                  </a:lnTo>
                  <a:lnTo>
                    <a:pt x="2654300" y="6350"/>
                  </a:lnTo>
                  <a:close/>
                </a:path>
              </a:pathLst>
            </a:custGeom>
            <a:solidFill>
              <a:srgbClr val="00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71256E4-C037-4053-818A-D3CB6EF321B0}"/>
              </a:ext>
            </a:extLst>
          </p:cNvPr>
          <p:cNvSpPr txBox="1"/>
          <p:nvPr userDrawn="1"/>
        </p:nvSpPr>
        <p:spPr>
          <a:xfrm>
            <a:off x="11118032" y="6641531"/>
            <a:ext cx="81044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8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РАЗВИТИЕ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A8D426-65F3-4089-A286-D05F2517B3FC}"/>
              </a:ext>
            </a:extLst>
          </p:cNvPr>
          <p:cNvSpPr txBox="1">
            <a:spLocks/>
          </p:cNvSpPr>
          <p:nvPr userDrawn="1"/>
        </p:nvSpPr>
        <p:spPr>
          <a:xfrm>
            <a:off x="11512697" y="6566691"/>
            <a:ext cx="679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F8B3EF-6FCB-5342-834B-72C623FC3BE6}" type="slidenum">
              <a:rPr lang="en-RU" sz="80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‹#›</a:t>
            </a:fld>
            <a:endParaRPr lang="en-RU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428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595">
          <p15:clr>
            <a:srgbClr val="FBAE40"/>
          </p15:clr>
        </p15:guide>
        <p15:guide id="6" orient="horz" pos="417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 №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8C6DD5B-9D91-4B05-8AC1-7AEB464BB4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2819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C6DD5B-9D91-4B05-8AC1-7AEB464BB4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Объект 2">
            <a:extLst>
              <a:ext uri="{FF2B5EF4-FFF2-40B4-BE49-F238E27FC236}">
                <a16:creationId xmlns:a16="http://schemas.microsoft.com/office/drawing/2014/main" id="{F10816A5-441D-93F6-A1FA-0C88FB85D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2" y="533898"/>
            <a:ext cx="11522075" cy="606184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A9F03720-40A5-447A-9090-5D7139CE5719}"/>
              </a:ext>
            </a:extLst>
          </p:cNvPr>
          <p:cNvGrpSpPr/>
          <p:nvPr userDrawn="1"/>
        </p:nvGrpSpPr>
        <p:grpSpPr>
          <a:xfrm>
            <a:off x="11056093" y="6687315"/>
            <a:ext cx="123877" cy="123877"/>
            <a:chOff x="8664606" y="6121154"/>
            <a:chExt cx="736846" cy="736846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54FE2E1-F87E-4986-AAD3-B01F61C72B41}"/>
                </a:ext>
              </a:extLst>
            </p:cNvPr>
            <p:cNvSpPr/>
            <p:nvPr/>
          </p:nvSpPr>
          <p:spPr>
            <a:xfrm>
              <a:off x="8664606" y="6121154"/>
              <a:ext cx="736846" cy="736846"/>
            </a:xfrm>
            <a:prstGeom prst="ellipse">
              <a:avLst/>
            </a:prstGeom>
            <a:solidFill>
              <a:srgbClr val="3CF2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4C1B39BE-8EA7-40DD-8745-4C9FC549025D}"/>
                </a:ext>
              </a:extLst>
            </p:cNvPr>
            <p:cNvSpPr/>
            <p:nvPr/>
          </p:nvSpPr>
          <p:spPr>
            <a:xfrm>
              <a:off x="8775922" y="6277783"/>
              <a:ext cx="514214" cy="423589"/>
            </a:xfrm>
            <a:custGeom>
              <a:avLst/>
              <a:gdLst>
                <a:gd name="connsiteX0" fmla="*/ 1746250 w 4201160"/>
                <a:gd name="connsiteY0" fmla="*/ 6351 h 3460751"/>
                <a:gd name="connsiteX1" fmla="*/ 2156460 w 4201160"/>
                <a:gd name="connsiteY1" fmla="*/ 6351 h 3460751"/>
                <a:gd name="connsiteX2" fmla="*/ 2550160 w 4201160"/>
                <a:gd name="connsiteY2" fmla="*/ 876301 h 3460751"/>
                <a:gd name="connsiteX3" fmla="*/ 1210310 w 4201160"/>
                <a:gd name="connsiteY3" fmla="*/ 3460751 h 3460751"/>
                <a:gd name="connsiteX4" fmla="*/ 0 w 4201160"/>
                <a:gd name="connsiteY4" fmla="*/ 3454401 h 3460751"/>
                <a:gd name="connsiteX5" fmla="*/ 3820160 w 4201160"/>
                <a:gd name="connsiteY5" fmla="*/ 0 h 3460751"/>
                <a:gd name="connsiteX6" fmla="*/ 4201160 w 4201160"/>
                <a:gd name="connsiteY6" fmla="*/ 874059 h 3460751"/>
                <a:gd name="connsiteX7" fmla="*/ 3496310 w 4201160"/>
                <a:gd name="connsiteY7" fmla="*/ 2235199 h 3460751"/>
                <a:gd name="connsiteX8" fmla="*/ 2343150 w 4201160"/>
                <a:gd name="connsiteY8" fmla="*/ 2250141 h 3460751"/>
                <a:gd name="connsiteX9" fmla="*/ 3039110 w 4201160"/>
                <a:gd name="connsiteY9" fmla="*/ 863601 h 3460751"/>
                <a:gd name="connsiteX10" fmla="*/ 2654300 w 4201160"/>
                <a:gd name="connsiteY10" fmla="*/ 6350 h 3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1160" h="3460751">
                  <a:moveTo>
                    <a:pt x="1746250" y="6351"/>
                  </a:moveTo>
                  <a:lnTo>
                    <a:pt x="2156460" y="6351"/>
                  </a:lnTo>
                  <a:lnTo>
                    <a:pt x="2550160" y="876301"/>
                  </a:lnTo>
                  <a:lnTo>
                    <a:pt x="1210310" y="3460751"/>
                  </a:lnTo>
                  <a:lnTo>
                    <a:pt x="0" y="3454401"/>
                  </a:lnTo>
                  <a:close/>
                  <a:moveTo>
                    <a:pt x="3820160" y="0"/>
                  </a:moveTo>
                  <a:lnTo>
                    <a:pt x="4201160" y="874059"/>
                  </a:lnTo>
                  <a:lnTo>
                    <a:pt x="3496310" y="2235199"/>
                  </a:lnTo>
                  <a:lnTo>
                    <a:pt x="2343150" y="2250141"/>
                  </a:lnTo>
                  <a:lnTo>
                    <a:pt x="3039110" y="863601"/>
                  </a:lnTo>
                  <a:lnTo>
                    <a:pt x="2654300" y="6350"/>
                  </a:lnTo>
                  <a:close/>
                </a:path>
              </a:pathLst>
            </a:custGeom>
            <a:solidFill>
              <a:srgbClr val="00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BB6117C-7CF8-4E67-9FCF-9051F4CF8AAD}"/>
              </a:ext>
            </a:extLst>
          </p:cNvPr>
          <p:cNvSpPr txBox="1"/>
          <p:nvPr userDrawn="1"/>
        </p:nvSpPr>
        <p:spPr>
          <a:xfrm>
            <a:off x="11118032" y="6641531"/>
            <a:ext cx="81044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8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РАЗВИТИЕ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ED43A8-C0BF-4053-98E4-977C6AD7D55D}"/>
              </a:ext>
            </a:extLst>
          </p:cNvPr>
          <p:cNvSpPr txBox="1">
            <a:spLocks/>
          </p:cNvSpPr>
          <p:nvPr userDrawn="1"/>
        </p:nvSpPr>
        <p:spPr>
          <a:xfrm>
            <a:off x="11512697" y="6566691"/>
            <a:ext cx="679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F8B3EF-6FCB-5342-834B-72C623FC3BE6}" type="slidenum">
              <a:rPr lang="en-RU" sz="80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‹#›</a:t>
            </a:fld>
            <a:endParaRPr lang="en-RU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45D370C2-EE74-4E02-BECD-714A3B99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-10269"/>
            <a:ext cx="11522075" cy="544168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81009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"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8E577BB-A2F4-4685-95FC-C6378065F1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590920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E577BB-A2F4-4685-95FC-C6378065F1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5F7FA1-2F5D-03ED-F04A-E9F6B60D8FF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2ADBB-BC54-5D04-A3BB-76BE67567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90375" y="3917092"/>
            <a:ext cx="3816178" cy="2940908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r">
              <a:defRPr sz="20000">
                <a:solidFill>
                  <a:srgbClr val="B3BDDA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01.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CE2A75F-C987-C85D-2664-9EC11F26D9A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4113" y="5778097"/>
            <a:ext cx="595699" cy="595699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EAD114CF-9245-35E9-4C0F-A1DAA61E28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113" y="617538"/>
            <a:ext cx="10832439" cy="67644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70000"/>
              </a:lnSpc>
              <a:buNone/>
              <a:defRPr sz="3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391D41E-AFF0-6BB7-1DA7-89FB467F73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4113" y="1377828"/>
            <a:ext cx="5521887" cy="3078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5pPr>
          </a:lstStyle>
          <a:p>
            <a:pPr lvl="0"/>
            <a:r>
              <a:rPr lang="ru-RU" dirty="0"/>
              <a:t>Описание раздела (при наличии), например, его содержание или подпись </a:t>
            </a:r>
          </a:p>
        </p:txBody>
      </p:sp>
    </p:spTree>
    <p:extLst>
      <p:ext uri="{BB962C8B-B14F-4D97-AF65-F5344CB8AC3E}">
        <p14:creationId xmlns:p14="http://schemas.microsoft.com/office/powerpoint/2010/main" val="1930616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6146577-AE95-4234-A829-50A15A7608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837348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146577-AE95-4234-A829-50A15A7608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4F3716-7ABD-CFBE-8B4B-32F823FC3C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59" b="11559"/>
          <a:stretch/>
        </p:blipFill>
        <p:spPr>
          <a:xfrm>
            <a:off x="4036715" y="-1"/>
            <a:ext cx="6610447" cy="685800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82A42826-FC98-95C6-EF85-491190F24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074289"/>
            <a:ext cx="6291805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6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 </a:t>
            </a:r>
          </a:p>
          <a:p>
            <a:pPr lvl="0"/>
            <a:r>
              <a:rPr lang="ru-RU" dirty="0"/>
              <a:t>за внимание!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E3BD787A-FE5B-9333-1134-452F81E9AB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27312" y="5935761"/>
            <a:ext cx="3707334" cy="359156"/>
          </a:xfrm>
          <a:prstGeom prst="rect">
            <a:avLst/>
          </a:prstGeom>
        </p:spPr>
        <p:txBody>
          <a:bodyPr anchor="b"/>
          <a:lstStyle>
            <a:lvl1pPr algn="r">
              <a:defRPr sz="1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Москва, 2024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B74350-96C2-5C61-0E3E-43B2BD656D4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54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(контакты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3F0C41D-57CC-4A04-85ED-2BCB1FCBE3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510517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F0C41D-57CC-4A04-85ED-2BCB1FCBE3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B18E58-6FF1-94FE-D60C-7B098B2B20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59" b="11559"/>
          <a:stretch/>
        </p:blipFill>
        <p:spPr>
          <a:xfrm>
            <a:off x="4036715" y="-1"/>
            <a:ext cx="6610447" cy="685800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82A42826-FC98-95C6-EF85-491190F24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5138" y="4021015"/>
            <a:ext cx="3276600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Блок с контактами 1</a:t>
            </a:r>
          </a:p>
          <a:p>
            <a:pPr lvl="0"/>
            <a:r>
              <a:rPr lang="ru-RU" dirty="0"/>
              <a:t>+7 999 234-56-78</a:t>
            </a:r>
          </a:p>
          <a:p>
            <a:pPr lvl="0"/>
            <a:r>
              <a:rPr lang="ru-RU" dirty="0" err="1"/>
              <a:t>i</a:t>
            </a:r>
            <a:r>
              <a:rPr lang="en-GB" dirty="0" err="1"/>
              <a:t>nfo@mail.ru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B74350-96C2-5C61-0E3E-43B2BD656D4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E59C88-1BF8-B356-19C5-AF2F39CEB86C}"/>
              </a:ext>
            </a:extLst>
          </p:cNvPr>
          <p:cNvSpPr txBox="1"/>
          <p:nvPr userDrawn="1"/>
        </p:nvSpPr>
        <p:spPr>
          <a:xfrm>
            <a:off x="8774703" y="5962692"/>
            <a:ext cx="2648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en-GB" sz="1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WWW.RAZVITIYE.RU</a:t>
            </a:r>
            <a:endParaRPr lang="ru-RU" sz="18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Текст 9">
            <a:extLst>
              <a:ext uri="{FF2B5EF4-FFF2-40B4-BE49-F238E27FC236}">
                <a16:creationId xmlns:a16="http://schemas.microsoft.com/office/drawing/2014/main" id="{62328D92-94C2-7A57-5B44-EE7105BB60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6349" y="4022545"/>
            <a:ext cx="3276600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Блок с контактами </a:t>
            </a:r>
            <a:r>
              <a:rPr lang="en-GB" dirty="0"/>
              <a:t>2 </a:t>
            </a:r>
          </a:p>
          <a:p>
            <a:pPr lvl="0"/>
            <a:r>
              <a:rPr lang="ru-RU" dirty="0"/>
              <a:t>+7 999 234-56-78</a:t>
            </a:r>
          </a:p>
          <a:p>
            <a:pPr lvl="0"/>
            <a:r>
              <a:rPr lang="ru-RU" dirty="0" err="1"/>
              <a:t>i</a:t>
            </a:r>
            <a:r>
              <a:rPr lang="en-GB" dirty="0" err="1"/>
              <a:t>nfo@mail.ru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2043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vmlDrawing" Target="../drawings/vmlDrawing1.vml"/><Relationship Id="rId20" Type="http://schemas.openxmlformats.org/officeDocument/2006/relationships/tags" Target="../tags/tag2.xml"/><Relationship Id="rId21" Type="http://schemas.openxmlformats.org/officeDocument/2006/relationships/oleObject" Target="../embeddings/oleObject1.bin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BE4D52E-C9E9-427F-A401-79B11E674D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0670209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Слайд think-cell" r:id="rId21" imgW="359" imgH="360" progId="TCLayout.ActiveDocument.1">
                  <p:embed/>
                </p:oleObj>
              </mc:Choice>
              <mc:Fallback>
                <p:oleObj name="Слайд think-cell" r:id="rId21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D787A43-ACEA-4E8D-96C1-D23CF3BE4AE6}"/>
              </a:ext>
            </a:extLst>
          </p:cNvPr>
          <p:cNvSpPr/>
          <p:nvPr userDrawn="1"/>
        </p:nvSpPr>
        <p:spPr>
          <a:xfrm>
            <a:off x="-1343690" y="3164208"/>
            <a:ext cx="1201480" cy="540000"/>
          </a:xfrm>
          <a:prstGeom prst="rect">
            <a:avLst/>
          </a:prstGeom>
          <a:solidFill>
            <a:srgbClr val="214C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#214C3B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3C59518-5F6C-47B6-85A3-FE4CF327001C}"/>
              </a:ext>
            </a:extLst>
          </p:cNvPr>
          <p:cNvSpPr/>
          <p:nvPr userDrawn="1"/>
        </p:nvSpPr>
        <p:spPr>
          <a:xfrm>
            <a:off x="-1343690" y="2533450"/>
            <a:ext cx="1201480" cy="5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#F5F5F5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A011856-2F03-4B82-BE5A-B2E9CE894347}"/>
              </a:ext>
            </a:extLst>
          </p:cNvPr>
          <p:cNvSpPr/>
          <p:nvPr userDrawn="1"/>
        </p:nvSpPr>
        <p:spPr>
          <a:xfrm>
            <a:off x="-1343690" y="10418"/>
            <a:ext cx="1201480" cy="540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#3EF0AF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029B896-79A5-4B6C-AFEA-0B783B15C6D7}"/>
              </a:ext>
            </a:extLst>
          </p:cNvPr>
          <p:cNvSpPr/>
          <p:nvPr userDrawn="1"/>
        </p:nvSpPr>
        <p:spPr>
          <a:xfrm>
            <a:off x="-1343690" y="1271934"/>
            <a:ext cx="1201480" cy="540000"/>
          </a:xfrm>
          <a:prstGeom prst="rect">
            <a:avLst/>
          </a:prstGeom>
          <a:solidFill>
            <a:srgbClr val="2A31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#2A3138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16FA57B-58CF-432C-B479-8C2B3503E772}"/>
              </a:ext>
            </a:extLst>
          </p:cNvPr>
          <p:cNvSpPr/>
          <p:nvPr userDrawn="1"/>
        </p:nvSpPr>
        <p:spPr>
          <a:xfrm>
            <a:off x="-1343690" y="4425724"/>
            <a:ext cx="1201480" cy="540000"/>
          </a:xfrm>
          <a:prstGeom prst="rect">
            <a:avLst/>
          </a:prstGeom>
          <a:solidFill>
            <a:srgbClr val="7E8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#7E83FA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AE792A6-FD87-44EA-873B-8E40FAC5C9ED}"/>
              </a:ext>
            </a:extLst>
          </p:cNvPr>
          <p:cNvSpPr/>
          <p:nvPr userDrawn="1"/>
        </p:nvSpPr>
        <p:spPr>
          <a:xfrm>
            <a:off x="-1343690" y="5687240"/>
            <a:ext cx="1201480" cy="540000"/>
          </a:xfrm>
          <a:prstGeom prst="rect">
            <a:avLst/>
          </a:prstGeom>
          <a:solidFill>
            <a:srgbClr val="83DC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#83DCDF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70CFC79-495C-46DA-A7B2-96D497CE5DF5}"/>
              </a:ext>
            </a:extLst>
          </p:cNvPr>
          <p:cNvSpPr/>
          <p:nvPr userDrawn="1"/>
        </p:nvSpPr>
        <p:spPr>
          <a:xfrm>
            <a:off x="-1343690" y="6318000"/>
            <a:ext cx="1201480" cy="540000"/>
          </a:xfrm>
          <a:prstGeom prst="rect">
            <a:avLst/>
          </a:prstGeom>
          <a:solidFill>
            <a:srgbClr val="B3B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#B3BDDC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3C38A6F-5170-4F97-A74A-C522981794CB}"/>
              </a:ext>
            </a:extLst>
          </p:cNvPr>
          <p:cNvSpPr/>
          <p:nvPr userDrawn="1"/>
        </p:nvSpPr>
        <p:spPr>
          <a:xfrm>
            <a:off x="-1343690" y="5056482"/>
            <a:ext cx="1201480" cy="540000"/>
          </a:xfrm>
          <a:prstGeom prst="rect">
            <a:avLst/>
          </a:prstGeom>
          <a:solidFill>
            <a:srgbClr val="5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#53F3F3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48AFC98-3137-4786-8C58-9E67E6465872}"/>
              </a:ext>
            </a:extLst>
          </p:cNvPr>
          <p:cNvSpPr/>
          <p:nvPr userDrawn="1"/>
        </p:nvSpPr>
        <p:spPr>
          <a:xfrm>
            <a:off x="-1343690" y="3794966"/>
            <a:ext cx="1201480" cy="540000"/>
          </a:xfrm>
          <a:prstGeom prst="rect">
            <a:avLst/>
          </a:prstGeom>
          <a:solidFill>
            <a:srgbClr val="B668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#B668E4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A6C4903-18D9-47AD-860F-596D47DC28B5}"/>
              </a:ext>
            </a:extLst>
          </p:cNvPr>
          <p:cNvSpPr/>
          <p:nvPr userDrawn="1"/>
        </p:nvSpPr>
        <p:spPr>
          <a:xfrm>
            <a:off x="-1343690" y="641176"/>
            <a:ext cx="1201480" cy="540000"/>
          </a:xfrm>
          <a:prstGeom prst="rect">
            <a:avLst/>
          </a:prstGeom>
          <a:solidFill>
            <a:srgbClr val="0508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#05080E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1151D00-56B0-4154-9D17-C5E1DD3F3807}"/>
              </a:ext>
            </a:extLst>
          </p:cNvPr>
          <p:cNvSpPr/>
          <p:nvPr userDrawn="1"/>
        </p:nvSpPr>
        <p:spPr>
          <a:xfrm>
            <a:off x="-1343690" y="1902692"/>
            <a:ext cx="1201480" cy="540000"/>
          </a:xfrm>
          <a:prstGeom prst="rect">
            <a:avLst/>
          </a:prstGeom>
          <a:solidFill>
            <a:srgbClr val="8086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#80868B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C1CA98-945C-4501-9BDB-CFBE3B297AA8}"/>
              </a:ext>
            </a:extLst>
          </p:cNvPr>
          <p:cNvSpPr txBox="1"/>
          <p:nvPr userDrawn="1"/>
        </p:nvSpPr>
        <p:spPr>
          <a:xfrm rot="16200000">
            <a:off x="-3213032" y="1559283"/>
            <a:ext cx="3405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Ключевые цвета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024FEE-F3B8-49B4-983F-DC4887C9F12C}"/>
              </a:ext>
            </a:extLst>
          </p:cNvPr>
          <p:cNvSpPr txBox="1"/>
          <p:nvPr userDrawn="1"/>
        </p:nvSpPr>
        <p:spPr>
          <a:xfrm rot="16200000">
            <a:off x="-3213033" y="5001359"/>
            <a:ext cx="3405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Вспомогательные цвета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FA4E508-6528-478F-8E07-FC454F171EE2}"/>
              </a:ext>
            </a:extLst>
          </p:cNvPr>
          <p:cNvSpPr/>
          <p:nvPr userDrawn="1"/>
        </p:nvSpPr>
        <p:spPr>
          <a:xfrm>
            <a:off x="-1664167" y="-38101"/>
            <a:ext cx="1575932" cy="31313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E98BEE3-0784-4A43-A63C-AD8515D468B7}"/>
              </a:ext>
            </a:extLst>
          </p:cNvPr>
          <p:cNvSpPr/>
          <p:nvPr userDrawn="1"/>
        </p:nvSpPr>
        <p:spPr>
          <a:xfrm>
            <a:off x="-1664167" y="3141764"/>
            <a:ext cx="1575932" cy="37543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28A5332-96F7-439A-BC2B-C998714A2F91}"/>
              </a:ext>
            </a:extLst>
          </p:cNvPr>
          <p:cNvSpPr/>
          <p:nvPr userDrawn="1"/>
        </p:nvSpPr>
        <p:spPr>
          <a:xfrm rot="16200000">
            <a:off x="6236893" y="-456789"/>
            <a:ext cx="333373" cy="504000"/>
          </a:xfrm>
          <a:prstGeom prst="rect">
            <a:avLst/>
          </a:prstGeom>
          <a:solidFill>
            <a:srgbClr val="05080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18E93F0-4AC8-4DEC-8E9F-3F74536215CF}"/>
              </a:ext>
            </a:extLst>
          </p:cNvPr>
          <p:cNvSpPr/>
          <p:nvPr userDrawn="1"/>
        </p:nvSpPr>
        <p:spPr>
          <a:xfrm rot="16200000">
            <a:off x="6852051" y="-456789"/>
            <a:ext cx="333373" cy="504000"/>
          </a:xfrm>
          <a:prstGeom prst="rect">
            <a:avLst/>
          </a:prstGeom>
          <a:solidFill>
            <a:srgbClr val="05080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1093867-12CB-4B4F-83D8-E5D767982016}"/>
              </a:ext>
            </a:extLst>
          </p:cNvPr>
          <p:cNvSpPr/>
          <p:nvPr userDrawn="1"/>
        </p:nvSpPr>
        <p:spPr>
          <a:xfrm rot="16200000">
            <a:off x="7467209" y="-456789"/>
            <a:ext cx="333373" cy="504000"/>
          </a:xfrm>
          <a:prstGeom prst="rect">
            <a:avLst/>
          </a:prstGeom>
          <a:solidFill>
            <a:srgbClr val="05080E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8AE2343-019C-4192-9D2B-A43117BBF96C}"/>
              </a:ext>
            </a:extLst>
          </p:cNvPr>
          <p:cNvSpPr/>
          <p:nvPr userDrawn="1"/>
        </p:nvSpPr>
        <p:spPr>
          <a:xfrm rot="16200000">
            <a:off x="8082367" y="-456789"/>
            <a:ext cx="333373" cy="504000"/>
          </a:xfrm>
          <a:prstGeom prst="rect">
            <a:avLst/>
          </a:prstGeom>
          <a:solidFill>
            <a:srgbClr val="05080E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3192A3F-1803-422F-8609-643FB76C4B70}"/>
              </a:ext>
            </a:extLst>
          </p:cNvPr>
          <p:cNvSpPr/>
          <p:nvPr userDrawn="1"/>
        </p:nvSpPr>
        <p:spPr>
          <a:xfrm rot="16200000">
            <a:off x="8697525" y="-456789"/>
            <a:ext cx="333373" cy="504000"/>
          </a:xfrm>
          <a:prstGeom prst="rect">
            <a:avLst/>
          </a:prstGeom>
          <a:solidFill>
            <a:srgbClr val="05080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97BDA31-60D9-4792-96AE-BFC4C140D285}"/>
              </a:ext>
            </a:extLst>
          </p:cNvPr>
          <p:cNvSpPr/>
          <p:nvPr userDrawn="1"/>
        </p:nvSpPr>
        <p:spPr>
          <a:xfrm rot="16200000">
            <a:off x="9312683" y="-456789"/>
            <a:ext cx="333373" cy="504000"/>
          </a:xfrm>
          <a:prstGeom prst="rect">
            <a:avLst/>
          </a:prstGeom>
          <a:solidFill>
            <a:srgbClr val="05080E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5FBBFFE-4FDF-478E-B0BB-BA7E899C78C7}"/>
              </a:ext>
            </a:extLst>
          </p:cNvPr>
          <p:cNvSpPr/>
          <p:nvPr userDrawn="1"/>
        </p:nvSpPr>
        <p:spPr>
          <a:xfrm rot="16200000">
            <a:off x="9927841" y="-456789"/>
            <a:ext cx="333373" cy="504000"/>
          </a:xfrm>
          <a:prstGeom prst="rect">
            <a:avLst/>
          </a:prstGeom>
          <a:solidFill>
            <a:srgbClr val="05080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9E071C1-2CB4-4D5A-8CC6-C75B1CD72525}"/>
              </a:ext>
            </a:extLst>
          </p:cNvPr>
          <p:cNvSpPr/>
          <p:nvPr userDrawn="1"/>
        </p:nvSpPr>
        <p:spPr>
          <a:xfrm rot="16200000">
            <a:off x="10542999" y="-456789"/>
            <a:ext cx="333373" cy="504000"/>
          </a:xfrm>
          <a:prstGeom prst="rect">
            <a:avLst/>
          </a:prstGeom>
          <a:solidFill>
            <a:srgbClr val="05080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C1DA9D7-2BFF-4882-BFB4-19DB95ED9B0C}"/>
              </a:ext>
            </a:extLst>
          </p:cNvPr>
          <p:cNvSpPr/>
          <p:nvPr userDrawn="1"/>
        </p:nvSpPr>
        <p:spPr>
          <a:xfrm rot="16200000">
            <a:off x="11158157" y="-456789"/>
            <a:ext cx="333373" cy="504000"/>
          </a:xfrm>
          <a:prstGeom prst="rect">
            <a:avLst/>
          </a:prstGeom>
          <a:solidFill>
            <a:srgbClr val="05080E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29A71B2-7155-4700-B9AD-63391A6CAE48}"/>
              </a:ext>
            </a:extLst>
          </p:cNvPr>
          <p:cNvSpPr/>
          <p:nvPr userDrawn="1"/>
        </p:nvSpPr>
        <p:spPr>
          <a:xfrm rot="16200000">
            <a:off x="11773313" y="-456789"/>
            <a:ext cx="333373" cy="504000"/>
          </a:xfrm>
          <a:prstGeom prst="rect">
            <a:avLst/>
          </a:prstGeom>
          <a:solidFill>
            <a:srgbClr val="0508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C96C393-737B-41F0-B346-B2ABC0D83F42}"/>
              </a:ext>
            </a:extLst>
          </p:cNvPr>
          <p:cNvSpPr/>
          <p:nvPr userDrawn="1"/>
        </p:nvSpPr>
        <p:spPr>
          <a:xfrm rot="5400000">
            <a:off x="5621735" y="-456789"/>
            <a:ext cx="333373" cy="504000"/>
          </a:xfrm>
          <a:prstGeom prst="rect">
            <a:avLst/>
          </a:prstGeom>
          <a:solidFill>
            <a:srgbClr val="3EF0A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B1318B0-BB02-4019-89A3-75095BB01F00}"/>
              </a:ext>
            </a:extLst>
          </p:cNvPr>
          <p:cNvSpPr/>
          <p:nvPr userDrawn="1"/>
        </p:nvSpPr>
        <p:spPr>
          <a:xfrm rot="5400000">
            <a:off x="5006577" y="-456789"/>
            <a:ext cx="333373" cy="504000"/>
          </a:xfrm>
          <a:prstGeom prst="rect">
            <a:avLst/>
          </a:prstGeom>
          <a:solidFill>
            <a:srgbClr val="3EF0A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5B9935E-3645-48CE-9881-73D6E9E6CDC8}"/>
              </a:ext>
            </a:extLst>
          </p:cNvPr>
          <p:cNvSpPr/>
          <p:nvPr userDrawn="1"/>
        </p:nvSpPr>
        <p:spPr>
          <a:xfrm rot="5400000">
            <a:off x="4391419" y="-456789"/>
            <a:ext cx="333373" cy="504000"/>
          </a:xfrm>
          <a:prstGeom prst="rect">
            <a:avLst/>
          </a:prstGeom>
          <a:solidFill>
            <a:srgbClr val="3EF0A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DD01A44-DC87-4D56-95E1-ADB7A247626C}"/>
              </a:ext>
            </a:extLst>
          </p:cNvPr>
          <p:cNvSpPr/>
          <p:nvPr userDrawn="1"/>
        </p:nvSpPr>
        <p:spPr>
          <a:xfrm rot="5400000">
            <a:off x="3776261" y="-456789"/>
            <a:ext cx="333373" cy="504000"/>
          </a:xfrm>
          <a:prstGeom prst="rect">
            <a:avLst/>
          </a:prstGeom>
          <a:solidFill>
            <a:srgbClr val="3EF0A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0F351D3-5190-4645-A3BF-A0B8585A7446}"/>
              </a:ext>
            </a:extLst>
          </p:cNvPr>
          <p:cNvSpPr/>
          <p:nvPr userDrawn="1"/>
        </p:nvSpPr>
        <p:spPr>
          <a:xfrm rot="5400000">
            <a:off x="3161103" y="-456789"/>
            <a:ext cx="333373" cy="504000"/>
          </a:xfrm>
          <a:prstGeom prst="rect">
            <a:avLst/>
          </a:prstGeom>
          <a:solidFill>
            <a:srgbClr val="3EF0A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5E038461-4DFC-4935-A9E2-E2E4E40DD2F8}"/>
              </a:ext>
            </a:extLst>
          </p:cNvPr>
          <p:cNvSpPr/>
          <p:nvPr userDrawn="1"/>
        </p:nvSpPr>
        <p:spPr>
          <a:xfrm rot="5400000">
            <a:off x="2545945" y="-456789"/>
            <a:ext cx="333373" cy="504000"/>
          </a:xfrm>
          <a:prstGeom prst="rect">
            <a:avLst/>
          </a:prstGeom>
          <a:solidFill>
            <a:srgbClr val="3EF0A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EE85FFB-78B7-43A2-87AC-8664BFCBF67C}"/>
              </a:ext>
            </a:extLst>
          </p:cNvPr>
          <p:cNvSpPr/>
          <p:nvPr userDrawn="1"/>
        </p:nvSpPr>
        <p:spPr>
          <a:xfrm rot="5400000">
            <a:off x="1930787" y="-456789"/>
            <a:ext cx="333373" cy="504000"/>
          </a:xfrm>
          <a:prstGeom prst="rect">
            <a:avLst/>
          </a:prstGeom>
          <a:solidFill>
            <a:srgbClr val="3EF0A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A6C2CB7-43F9-4A90-B615-C0CBB5342376}"/>
              </a:ext>
            </a:extLst>
          </p:cNvPr>
          <p:cNvSpPr/>
          <p:nvPr userDrawn="1"/>
        </p:nvSpPr>
        <p:spPr>
          <a:xfrm rot="5400000">
            <a:off x="1315629" y="-456789"/>
            <a:ext cx="333373" cy="504000"/>
          </a:xfrm>
          <a:prstGeom prst="rect">
            <a:avLst/>
          </a:prstGeom>
          <a:solidFill>
            <a:srgbClr val="3EF0A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47655E81-F847-4C11-8031-44AE7D4F3294}"/>
              </a:ext>
            </a:extLst>
          </p:cNvPr>
          <p:cNvSpPr/>
          <p:nvPr userDrawn="1"/>
        </p:nvSpPr>
        <p:spPr>
          <a:xfrm rot="5400000">
            <a:off x="700471" y="-456789"/>
            <a:ext cx="333373" cy="504000"/>
          </a:xfrm>
          <a:prstGeom prst="rect">
            <a:avLst/>
          </a:prstGeom>
          <a:solidFill>
            <a:srgbClr val="3EF0A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145AECB8-3745-42ED-A62B-5BC08BC58197}"/>
              </a:ext>
            </a:extLst>
          </p:cNvPr>
          <p:cNvSpPr/>
          <p:nvPr userDrawn="1"/>
        </p:nvSpPr>
        <p:spPr>
          <a:xfrm rot="5400000">
            <a:off x="85313" y="-456789"/>
            <a:ext cx="333373" cy="504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756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9.vml"/><Relationship Id="rId2" Type="http://schemas.openxmlformats.org/officeDocument/2006/relationships/tags" Target="../tags/tag20.xml"/><Relationship Id="rId3" Type="http://schemas.openxmlformats.org/officeDocument/2006/relationships/slideLayout" Target="../slideLayouts/slideLayout5.xml"/><Relationship Id="rId4" Type="http://schemas.openxmlformats.org/officeDocument/2006/relationships/oleObject" Target="../embeddings/oleObject19.bin"/><Relationship Id="rId5" Type="http://schemas.openxmlformats.org/officeDocument/2006/relationships/image" Target="../media/image1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2.vml"/><Relationship Id="rId2" Type="http://schemas.openxmlformats.org/officeDocument/2006/relationships/tags" Target="../tags/tag39.xml"/><Relationship Id="rId3" Type="http://schemas.openxmlformats.org/officeDocument/2006/relationships/slideLayout" Target="../slideLayouts/slideLayout13.xml"/><Relationship Id="rId4" Type="http://schemas.openxmlformats.org/officeDocument/2006/relationships/oleObject" Target="../embeddings/oleObject22.bin"/><Relationship Id="rId5" Type="http://schemas.openxmlformats.org/officeDocument/2006/relationships/image" Target="../media/image1.emf"/><Relationship Id="rId6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6AD537A-8FE3-49BA-B804-6F031D85892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814222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9208CDB-F398-419F-B69B-68009C357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Оборотный фонд гарантийных</a:t>
            </a:r>
            <a:endParaRPr lang="ru-RU"/>
          </a:p>
          <a:p>
            <a:r>
              <a:rPr sz="4400" b="1">
                <a:solidFill>
                  <a:srgbClr val="FFFFFF"/>
                </a:solidFill>
                <a:latin typeface="Arial"/>
              </a:rPr>
              <a:t>компонентов NHL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E337DE9-50D0-4292-A8AC-642EB4F4CE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000" b="0">
                <a:solidFill>
                  <a:srgbClr val="3EF0AF"/>
                </a:solidFill>
              </a:rPr>
              <a:t>Три фонда · единый ремонтный цех ГЕ · разрешение коллизии заимствования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878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0" y="3913632"/>
            <a:ext cx="3813048" cy="29443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6000" b="1">
                <a:solidFill>
                  <a:srgbClr val="B3BDD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21792"/>
            <a:ext cx="10835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600" b="1">
                <a:solidFill>
                  <a:srgbClr val="3EF0AF"/>
                </a:solidFill>
                <a:latin typeface="Arial"/>
              </a:rPr>
              <a:t>Три оборотных фонда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508760"/>
            <a:ext cx="5522976" cy="3081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Кто владеет запасным компонентом и когда он может быть использован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9144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A3138"/>
                </a:solidFill>
                <a:latin typeface="Arial"/>
              </a:rPr>
              <a:t>Три оборотных фонда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" y="960120"/>
            <a:ext cx="3584448" cy="5532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1170431"/>
            <a:ext cx="713232" cy="713232"/>
          </a:xfrm>
          <a:prstGeom prst="ellipse">
            <a:avLst/>
          </a:prstGeom>
          <a:solidFill>
            <a:srgbClr val="3F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ГЕ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" y="1216152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2A3138"/>
                </a:solidFill>
                <a:latin typeface="Arial"/>
              </a:rPr>
              <a:t>ОФ ГЕ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9616" y="1618488"/>
            <a:ext cx="23500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0868B"/>
                </a:solidFill>
                <a:latin typeface="Arial"/>
              </a:rPr>
              <a:t>Общий гарантийный фонд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3774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3F9E46"/>
                </a:solidFill>
                <a:latin typeface="Arial"/>
              </a:rPr>
              <a:t>Владелец: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6517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A3138"/>
                </a:solidFill>
                <a:latin typeface="Arial"/>
              </a:rPr>
              <a:t>контрагент ГЕ (GE-NHL)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3310128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3F9E46"/>
                </a:solidFill>
                <a:latin typeface="Arial"/>
              </a:rPr>
              <a:t>Когда: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584448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A3138"/>
                </a:solidFill>
                <a:latin typeface="Arial"/>
              </a:rPr>
              <a:t>гарантийный случай, весь парк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4242816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3F9E46"/>
                </a:solidFill>
                <a:latin typeface="Arial"/>
              </a:rPr>
              <a:t>Ремонт: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4517136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A3138"/>
                </a:solidFill>
                <a:latin typeface="Arial"/>
              </a:rPr>
              <a:t>за счёт ГЕ · единый цех ГЕ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5175503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3F9E46"/>
                </a:solidFill>
                <a:latin typeface="Arial"/>
              </a:rPr>
              <a:t>Возврат: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5449823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A3138"/>
                </a:solidFill>
                <a:latin typeface="Arial"/>
              </a:rPr>
              <a:t>обратно в ОФ ГЕ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960120"/>
            <a:ext cx="3584448" cy="5532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17136" y="1170431"/>
            <a:ext cx="713232" cy="713232"/>
          </a:xfrm>
          <a:prstGeom prst="ellipse">
            <a:avLst/>
          </a:prstGeom>
          <a:solidFill>
            <a:srgbClr val="9B5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Ф3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8383" y="1216152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2A3138"/>
                </a:solidFill>
                <a:latin typeface="Arial"/>
              </a:rPr>
              <a:t>Фонд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3" y="1618488"/>
            <a:ext cx="23500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0868B"/>
                </a:solidFill>
                <a:latin typeface="Arial"/>
              </a:rPr>
              <a:t>Целевой фонд клиента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3774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9B5FBB"/>
                </a:solidFill>
                <a:latin typeface="Arial"/>
              </a:rPr>
              <a:t>Владелец: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6517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A3138"/>
                </a:solidFill>
                <a:latin typeface="Arial"/>
              </a:rPr>
              <a:t>клиент (Полюс), физически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310128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9B5FBB"/>
                </a:solidFill>
                <a:latin typeface="Arial"/>
              </a:rPr>
              <a:t>Когда: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3584448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A3138"/>
                </a:solidFill>
                <a:latin typeface="Arial"/>
              </a:rPr>
              <a:t>гарантия — ТОЛЬКО закреплённый парк (машинокомплект)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4242816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9B5FBB"/>
                </a:solidFill>
                <a:latin typeface="Arial"/>
              </a:rPr>
              <a:t>Ремонт: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517136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A3138"/>
                </a:solidFill>
                <a:latin typeface="Arial"/>
              </a:rPr>
              <a:t>по условиям поставки · цех ГЕ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5175503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9B5FBB"/>
                </a:solidFill>
                <a:latin typeface="Arial"/>
              </a:rPr>
              <a:t>Возврат: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5449823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A3138"/>
                </a:solidFill>
                <a:latin typeface="Arial"/>
              </a:rPr>
              <a:t>обратно в Фонд 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65592" y="960120"/>
            <a:ext cx="3584448" cy="5532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75903" y="1170431"/>
            <a:ext cx="713232" cy="713232"/>
          </a:xfrm>
          <a:prstGeom prst="ellipse">
            <a:avLst/>
          </a:prstGeom>
          <a:solidFill>
            <a:srgbClr val="D9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ЗИП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1216152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2A3138"/>
                </a:solidFill>
                <a:latin typeface="Arial"/>
              </a:rPr>
              <a:t>ОФ Полюс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1618488"/>
            <a:ext cx="23500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0868B"/>
                </a:solidFill>
                <a:latin typeface="Arial"/>
              </a:rPr>
              <a:t>Общий фонд владельца парка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3774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D9862B"/>
                </a:solidFill>
                <a:latin typeface="Arial"/>
              </a:rPr>
              <a:t>Владелец: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26517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A3138"/>
                </a:solidFill>
                <a:latin typeface="Arial"/>
              </a:rPr>
              <a:t>владелец парка (Полюс)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310128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D9862B"/>
                </a:solidFill>
                <a:latin typeface="Arial"/>
              </a:rPr>
              <a:t>Когда: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584448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A3138"/>
                </a:solidFill>
                <a:latin typeface="Arial"/>
              </a:rPr>
              <a:t>не гарантийный случай, весь парк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242816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D9862B"/>
                </a:solidFill>
                <a:latin typeface="Arial"/>
              </a:rPr>
              <a:t>Ремонт: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4517136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A3138"/>
                </a:solidFill>
                <a:latin typeface="Arial"/>
              </a:rPr>
              <a:t>за счёт Полюс (коммерция) · цех ГЕ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5175503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D9862B"/>
                </a:solidFill>
                <a:latin typeface="Arial"/>
              </a:rPr>
              <a:t>Возврат: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5449823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A3138"/>
                </a:solidFill>
                <a:latin typeface="Arial"/>
              </a:rPr>
              <a:t>обратно в ОФ Полюс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0" y="3913632"/>
            <a:ext cx="3813048" cy="29443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6000" b="1">
                <a:solidFill>
                  <a:srgbClr val="B3BDDC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21792"/>
            <a:ext cx="10835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600" b="1">
                <a:solidFill>
                  <a:srgbClr val="3EF0AF"/>
                </a:solidFill>
                <a:latin typeface="Arial"/>
              </a:rPr>
              <a:t>Полный цикл оборота компонента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508760"/>
            <a:ext cx="5943600" cy="3081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От отказа на машине до возврата в фонд — включая единый ремонтный цех ГЕ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7E6D87D-0BDE-493A-9E28-ECB1540C71E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05760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5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BBF88F5-DEC6-4782-A65C-645CB790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2A3138"/>
                </a:solidFill>
              </a:rPr>
              <a:t>Оборот компонента: с машины — в ремонт — обратно в фонд</a:t>
            </a:r>
            <a:endParaRPr lang="ru-RU"/>
          </a:p>
        </p:txBody>
      </p:sp>
      <p:pic>
        <p:nvPicPr>
          <p:cNvPr id="7" name="Picture 6" descr="full_sche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697" y="914400"/>
            <a:ext cx="11160700" cy="5669280"/>
          </a:xfrm>
          <a:prstGeom prst="rect">
            <a:avLst/>
          </a:prstGeom>
          <a:ln w="9525">
            <a:solidFill>
              <a:srgbClr val="D8D8D8"/>
            </a:solidFill>
          </a:ln>
        </p:spPr>
      </p:pic>
    </p:spTree>
    <p:extLst>
      <p:ext uri="{BB962C8B-B14F-4D97-AF65-F5344CB8AC3E}">
        <p14:creationId xmlns:p14="http://schemas.microsoft.com/office/powerpoint/2010/main" val="244871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9144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A3138"/>
                </a:solidFill>
                <a:latin typeface="Arial"/>
              </a:rPr>
              <a:t>Полный цикл: 4 шага</a:t>
            </a:r>
          </a:p>
        </p:txBody>
      </p:sp>
      <p:sp>
        <p:nvSpPr>
          <p:cNvPr id="3" name="Oval 2"/>
          <p:cNvSpPr/>
          <p:nvPr/>
        </p:nvSpPr>
        <p:spPr>
          <a:xfrm>
            <a:off x="566928" y="1307592"/>
            <a:ext cx="786384" cy="786384"/>
          </a:xfrm>
          <a:prstGeom prst="ellipse">
            <a:avLst/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3EF0A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106424"/>
            <a:ext cx="9418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A3138"/>
                </a:solidFill>
                <a:latin typeface="Arial"/>
              </a:rPr>
              <a:t>Отказ и снятие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527048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0868B"/>
                </a:solidFill>
                <a:latin typeface="Arial"/>
              </a:rPr>
              <a:t>Неисправный компонент снимается с самосвала — машина простаивать не должна.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606039"/>
            <a:ext cx="786384" cy="786384"/>
          </a:xfrm>
          <a:prstGeom prst="ellipse">
            <a:avLst/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3EF0A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404872"/>
            <a:ext cx="9418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A3138"/>
                </a:solidFill>
                <a:latin typeface="Arial"/>
              </a:rPr>
              <a:t>Определение гарантии → выбор фонда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825496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0868B"/>
                </a:solidFill>
                <a:latin typeface="Arial"/>
              </a:rPr>
              <a:t>Гарантийный случай: Фонд 3 (если машина закреплена и компонент в наличии) или ОФ ГЕ. Не гарантийный — ОФ Полюс (ЗИП).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04487"/>
            <a:ext cx="786384" cy="786384"/>
          </a:xfrm>
          <a:prstGeom prst="ellipse">
            <a:avLst/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3EF0A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703320"/>
            <a:ext cx="9418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A3138"/>
                </a:solidFill>
                <a:latin typeface="Arial"/>
              </a:rPr>
              <a:t>Ремонт в едином цехе ГЕ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123944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0868B"/>
                </a:solidFill>
                <a:latin typeface="Arial"/>
              </a:rPr>
              <a:t>Независимо от случая физический ремонт выполняется на одной площадке ГЕ — отличаются только условия оплаты.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5202936"/>
            <a:ext cx="786384" cy="786384"/>
          </a:xfrm>
          <a:prstGeom prst="ellipse">
            <a:avLst/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3EF0A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5001768"/>
            <a:ext cx="9418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A3138"/>
                </a:solidFill>
                <a:latin typeface="Arial"/>
              </a:rPr>
              <a:t>Возврат в тот же фонд + выдача на машину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422392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0868B"/>
                </a:solidFill>
                <a:latin typeface="Arial"/>
              </a:rPr>
              <a:t>Отремонтированный компонент возвращается туда, откуда был выдан. Исправный компонент сразу ставится на машину (advance exchange).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0" y="3913632"/>
            <a:ext cx="3813048" cy="29443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6000" b="1">
                <a:solidFill>
                  <a:srgbClr val="B3BDDC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621792"/>
            <a:ext cx="10835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600" b="1">
                <a:solidFill>
                  <a:srgbClr val="3EF0AF"/>
                </a:solidFill>
                <a:latin typeface="Arial"/>
              </a:rPr>
              <a:t>Коллизия и её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508760"/>
            <a:ext cx="6400800" cy="3081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Что делать, если Фонд 3 понадобился для не гарантийного случая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9144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A3138"/>
                </a:solidFill>
                <a:latin typeface="Arial"/>
              </a:rPr>
              <a:t>Коллизия: заимствование из Фонда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0">
                <a:solidFill>
                  <a:srgbClr val="C23B3B"/>
                </a:solidFill>
                <a:latin typeface="Arial"/>
              </a:rPr>
              <a:t>ОФ Полюс пуст, а на закреплённой машине доступен компонент Фонда 3 — единственный вариант не остановить самосвал. Использование не по назначению «протыкает» целевой фонд.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31720"/>
            <a:ext cx="26517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45336" y="2615184"/>
            <a:ext cx="566928" cy="566928"/>
          </a:xfrm>
          <a:prstGeom prst="ellipse">
            <a:avLst/>
          </a:prstGeom>
          <a:solidFill>
            <a:srgbClr val="9B5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337560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A3138"/>
                </a:solidFill>
                <a:latin typeface="Arial"/>
              </a:rPr>
              <a:t>Приоритет доступа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4160520"/>
            <a:ext cx="224942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0868B"/>
                </a:solidFill>
                <a:latin typeface="Arial"/>
              </a:rPr>
              <a:t>Фонд 3 — не альтернатива ЗИП, а резерв последней очереди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2331720"/>
            <a:ext cx="26517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43984" y="2615184"/>
            <a:ext cx="566928" cy="566928"/>
          </a:xfrm>
          <a:prstGeom prst="ellipse">
            <a:avLst/>
          </a:prstGeom>
          <a:solidFill>
            <a:srgbClr val="C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2736" y="3337560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A3138"/>
                </a:solidFill>
                <a:latin typeface="Arial"/>
              </a:rPr>
              <a:t>Гейт авторизации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4160520"/>
            <a:ext cx="224942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0868B"/>
                </a:solidFill>
                <a:latin typeface="Arial"/>
              </a:rPr>
              <a:t>Списание требует явного одобрения, а не автоматической выдачи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216" y="2331720"/>
            <a:ext cx="26517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42631" y="2615184"/>
            <a:ext cx="566928" cy="566928"/>
          </a:xfrm>
          <a:prstGeom prst="ellipse">
            <a:avLst/>
          </a:prstGeom>
          <a:solidFill>
            <a:srgbClr val="C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3" y="3337560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A3138"/>
                </a:solidFill>
                <a:latin typeface="Arial"/>
              </a:rPr>
              <a:t>Обязательное погашение долга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3" y="4160520"/>
            <a:ext cx="224942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0868B"/>
                </a:solidFill>
                <a:latin typeface="Arial"/>
              </a:rPr>
              <a:t>Восстановленный компонент возвращается именно в Фонд 3, не в ЗИП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98864" y="2331720"/>
            <a:ext cx="26517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41280" y="2615184"/>
            <a:ext cx="566928" cy="566928"/>
          </a:xfrm>
          <a:prstGeom prst="ellipse">
            <a:avLst/>
          </a:prstGeom>
          <a:solidFill>
            <a:srgbClr val="80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3337560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A3138"/>
                </a:solidFill>
                <a:latin typeface="Arial"/>
              </a:rPr>
              <a:t>Реестр и алерт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4160520"/>
            <a:ext cx="224942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0868B"/>
                </a:solidFill>
                <a:latin typeface="Arial"/>
              </a:rPr>
              <a:t>Норматив / факт / долг; пока долг не закрыт — фонд считается дефицитным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9144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A3138"/>
                </a:solidFill>
                <a:latin typeface="Arial"/>
              </a:rPr>
              <a:t>Норматив оборотного фонда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6012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EF0AF"/>
                </a:solidFill>
                <a:latin typeface="Arial"/>
              </a:rPr>
              <a:t>МЕТОДИКА (METRIC / теорема Палма)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ОФ ≈ λ × TAT + страховой запас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B3BDDC"/>
                </a:solidFill>
                <a:latin typeface="Arial"/>
              </a:rPr>
              <a:t>λ — интенсивность отказов по парку
TAT — время оборота: снятие → ремонт → возврат в ОФ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960120"/>
            <a:ext cx="5074920" cy="233172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1887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0868B"/>
                </a:solidFill>
                <a:latin typeface="Arial"/>
              </a:rPr>
              <a:t>ПРАКТИЧЕСКИЙ НОРМАТИВ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50876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A3138"/>
                </a:solidFill>
                <a:latin typeface="Arial"/>
              </a:rPr>
              <a:t>10 машин = 1 комплект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331720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A3138"/>
                </a:solidFill>
                <a:latin typeface="Arial"/>
              </a:rPr>
              <a:t>NTE: 1 ДВС + 2 мотор-колеса + 1 генератор
TR100: 1 ДВС + 1 КПП + 2 бортовых редуктора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2044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EF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9B5FBB"/>
                </a:solidFill>
                <a:latin typeface="Arial"/>
              </a:rPr>
              <a:t>Фонд 3 нормируется иначе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2A3138"/>
                </a:solidFill>
                <a:latin typeface="Arial"/>
              </a:rPr>
              <a:t>Размер не считается по формуле λ×TAT от всего парка — фиксируется условиями поставки (число и состав закреплённых машин). Формула применима только в границах этого подпарка.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12064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E4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F7035"/>
                </a:solidFill>
                <a:latin typeface="Arial"/>
              </a:rPr>
              <a:t>Вывод для планирования: чем больше TAT (дольше ремонт и логистика), тем больше нужен ОФ. Сокращение TAT напрямую уменьшает требуемый оборотный фонд.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9144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A3138"/>
                </a:solidFill>
                <a:latin typeface="Arial"/>
              </a:rPr>
              <a:t>Открытые вопросы</a:t>
            </a:r>
          </a:p>
        </p:txBody>
      </p:sp>
      <p:sp>
        <p:nvSpPr>
          <p:cNvPr id="3" name="Oval 2"/>
          <p:cNvSpPr/>
          <p:nvPr/>
        </p:nvSpPr>
        <p:spPr>
          <a:xfrm>
            <a:off x="676656" y="1152144"/>
            <a:ext cx="566928" cy="566928"/>
          </a:xfrm>
          <a:prstGeom prst="ellipse">
            <a:avLst/>
          </a:prstGeom>
          <a:solidFill>
            <a:srgbClr val="9B5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1143000"/>
            <a:ext cx="9601200" cy="777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1143000"/>
            <a:ext cx="9052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A3138"/>
                </a:solidFill>
                <a:latin typeface="Arial"/>
              </a:rPr>
              <a:t>Закупка при невозможности ремонта — у ГЕ или у стороннего поставщика?</a:t>
            </a:r>
          </a:p>
        </p:txBody>
      </p:sp>
      <p:sp>
        <p:nvSpPr>
          <p:cNvPr id="6" name="Oval 5"/>
          <p:cNvSpPr/>
          <p:nvPr/>
        </p:nvSpPr>
        <p:spPr>
          <a:xfrm>
            <a:off x="676656" y="2084831"/>
            <a:ext cx="566928" cy="566928"/>
          </a:xfrm>
          <a:prstGeom prst="ellipse">
            <a:avLst/>
          </a:prstGeom>
          <a:solidFill>
            <a:srgbClr val="9B5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075688"/>
            <a:ext cx="9601200" cy="777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075688"/>
            <a:ext cx="9052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A3138"/>
                </a:solidFill>
                <a:latin typeface="Arial"/>
              </a:rPr>
              <a:t>Первичное формирование фондов — кто и в каком объёме закупает ОФ ГЕ и ОФ Полюс на старте?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017520"/>
            <a:ext cx="566928" cy="566928"/>
          </a:xfrm>
          <a:prstGeom prst="ellipse">
            <a:avLst/>
          </a:prstGeom>
          <a:solidFill>
            <a:srgbClr val="9B5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3008376"/>
            <a:ext cx="9601200" cy="777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3008376"/>
            <a:ext cx="9052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A3138"/>
                </a:solidFill>
                <a:latin typeface="Arial"/>
              </a:rPr>
              <a:t>Перечень и количество машин, закреплённых за Фондом 3 (машинокомплект)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" y="3950208"/>
            <a:ext cx="566928" cy="566928"/>
          </a:xfrm>
          <a:prstGeom prst="ellipse">
            <a:avLst/>
          </a:prstGeom>
          <a:solidFill>
            <a:srgbClr val="9B5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3941064"/>
            <a:ext cx="9601200" cy="777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3941064"/>
            <a:ext cx="9052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A3138"/>
                </a:solidFill>
                <a:latin typeface="Arial"/>
              </a:rPr>
              <a:t>Фактический TAT по каждому типу компонента — нужен для точного размера ОФ вместо норматива 10:1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4882896"/>
            <a:ext cx="566928" cy="566928"/>
          </a:xfrm>
          <a:prstGeom prst="ellipse">
            <a:avLst/>
          </a:prstGeom>
          <a:solidFill>
            <a:srgbClr val="9B5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4873752"/>
            <a:ext cx="9601200" cy="777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4873752"/>
            <a:ext cx="9052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A3138"/>
                </a:solidFill>
                <a:latin typeface="Arial"/>
              </a:rPr>
              <a:t>Кто утверждает исключение — гейт авторизации при заимствовании из Фонда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504" y="4074566"/>
            <a:ext cx="7772400" cy="227228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Arial"/>
              </a:rPr>
              <a:t>Спасибо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6933" y="5935370"/>
            <a:ext cx="3706977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400" b="1">
                <a:solidFill>
                  <a:srgbClr val="3EF0AF"/>
                </a:solidFill>
                <a:latin typeface="Arial"/>
              </a:rPr>
              <a:t>ОБОРОТНЫЙ ФОНД NHL ·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Тема Office">
  <a:themeElements>
    <a:clrScheme name="Другая 1">
      <a:dk1>
        <a:srgbClr val="2A3138"/>
      </a:dk1>
      <a:lt1>
        <a:srgbClr val="FFFFFF"/>
      </a:lt1>
      <a:dk2>
        <a:srgbClr val="2A3138"/>
      </a:dk2>
      <a:lt2>
        <a:srgbClr val="E7E6E6"/>
      </a:lt2>
      <a:accent1>
        <a:srgbClr val="3EF0AF"/>
      </a:accent1>
      <a:accent2>
        <a:srgbClr val="80868B"/>
      </a:accent2>
      <a:accent3>
        <a:srgbClr val="D8D8D8"/>
      </a:accent3>
      <a:accent4>
        <a:srgbClr val="F5F5F5"/>
      </a:accent4>
      <a:accent5>
        <a:srgbClr val="2A3138"/>
      </a:accent5>
      <a:accent6>
        <a:srgbClr val="B3BDDC"/>
      </a:accent6>
      <a:hlink>
        <a:srgbClr val="B668E4"/>
      </a:hlink>
      <a:folHlink>
        <a:srgbClr val="7E83FA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482</Words>
  <Application>Microsoft Office PowerPoint</Application>
  <PresentationFormat>Широкоэкранный</PresentationFormat>
  <Paragraphs>68</Paragraphs>
  <Slides>5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Aeonik Pro TRIAL</vt:lpstr>
      <vt:lpstr>Arial</vt:lpstr>
      <vt:lpstr>Calibri</vt:lpstr>
      <vt:lpstr>Wingdings</vt:lpstr>
      <vt:lpstr>Тема Office</vt:lpstr>
      <vt:lpstr>Слайд think-cell</vt:lpstr>
      <vt:lpstr>Презентация PowerPoint</vt:lpstr>
      <vt:lpstr>Пример оформления текста</vt:lpstr>
      <vt:lpstr>Пример оформления таблиц и диаграмм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Зайцев Павел Юрьевич</dc:creator>
  <cp:lastModifiedBy>Кузнецов Виктор Евгеньевич</cp:lastModifiedBy>
  <cp:revision>9</cp:revision>
  <dcterms:created xsi:type="dcterms:W3CDTF">2024-06-03T08:05:05Z</dcterms:created>
  <dcterms:modified xsi:type="dcterms:W3CDTF">2026-07-20T07:52:25Z</dcterms:modified>
</cp:coreProperties>
</file>